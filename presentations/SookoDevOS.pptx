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383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Sooko DevOS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834640" y="384048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1E1B4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384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Summit Vancouver 2026 · GitHub Copilot SDK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generates.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Sooko decides.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AI output → to decision-ready software 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Copilot SDK-powered agent that plans, reviews, validates, and summarizes every software task with multi-model consensus intelligence.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2468880" cy="1783080"/>
          </a:xfrm>
          <a:prstGeom prst="rect">
            <a:avLst>
              <a:gd name="adj" fmla="val 5128"/>
            </a:avLst>
          </a:prstGeom>
          <a:solidFill>
            <a:srgbClr val="13131A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063240"/>
            <a:ext cx="2468880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49300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code fast, but teams don't trust it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 creates bottlenecks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Single-model outputs are inconsistent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3063240"/>
            <a:ext cx="2468880" cy="1783080"/>
          </a:xfrm>
          <a:prstGeom prst="rect">
            <a:avLst>
              <a:gd name="adj" fmla="val 5128"/>
            </a:avLst>
          </a:prstGeom>
          <a:solidFill>
            <a:srgbClr val="13131A"/>
          </a:solidFill>
          <a:ln/>
        </p:spPr>
      </p:sp>
      <p:sp>
        <p:nvSpPr>
          <p:cNvPr id="15" name="Shape 13"/>
          <p:cNvSpPr/>
          <p:nvPr/>
        </p:nvSpPr>
        <p:spPr>
          <a:xfrm>
            <a:off x="3337560" y="3063240"/>
            <a:ext cx="24688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349300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SDK agentic workflow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review + consensus scoring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Confidence-backed reports + auto-fix generation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063240"/>
            <a:ext cx="2468880" cy="1783080"/>
          </a:xfrm>
          <a:prstGeom prst="rect">
            <a:avLst>
              <a:gd name="adj" fmla="val 5128"/>
            </a:avLst>
          </a:prstGeom>
          <a:solidFill>
            <a:srgbClr val="13131A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3063240"/>
            <a:ext cx="246888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349300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for every code decision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 models agree on 3 critical risks"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fixes from consensus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SDK Agent Workflow — 6-Stage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960120" cy="640080"/>
          </a:xfrm>
          <a:prstGeom prst="roundRect">
            <a:avLst>
              <a:gd name="adj" fmla="val 11429"/>
            </a:avLst>
          </a:prstGeom>
          <a:solidFill>
            <a:srgbClr val="13131A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234440"/>
            <a:ext cx="960120" cy="3200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0759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1234440"/>
            <a:ext cx="137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17320" y="1234440"/>
            <a:ext cx="960120" cy="640080"/>
          </a:xfrm>
          <a:prstGeom prst="roundRect">
            <a:avLst>
              <a:gd name="adj" fmla="val 11429"/>
            </a:avLst>
          </a:prstGeom>
          <a:solidFill>
            <a:srgbClr val="13131A"/>
          </a:solidFill>
          <a:ln/>
        </p:spPr>
      </p:sp>
      <p:sp>
        <p:nvSpPr>
          <p:cNvPr id="10" name="Shape 8"/>
          <p:cNvSpPr/>
          <p:nvPr/>
        </p:nvSpPr>
        <p:spPr>
          <a:xfrm>
            <a:off x="1417320" y="1234440"/>
            <a:ext cx="960120" cy="3200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130759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Agent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0" y="1234440"/>
            <a:ext cx="137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234440"/>
            <a:ext cx="960120" cy="640080"/>
          </a:xfrm>
          <a:prstGeom prst="roundRect">
            <a:avLst>
              <a:gd name="adj" fmla="val 11429"/>
            </a:avLst>
          </a:prstGeom>
          <a:solidFill>
            <a:srgbClr val="13131A"/>
          </a:solidFill>
          <a:ln/>
        </p:spPr>
      </p:sp>
      <p:sp>
        <p:nvSpPr>
          <p:cNvPr id="14" name="Shape 12"/>
          <p:cNvSpPr/>
          <p:nvPr/>
        </p:nvSpPr>
        <p:spPr>
          <a:xfrm>
            <a:off x="2514600" y="1234440"/>
            <a:ext cx="960120" cy="320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130759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1234440"/>
            <a:ext cx="137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11880" y="1234440"/>
            <a:ext cx="960120" cy="640080"/>
          </a:xfrm>
          <a:prstGeom prst="roundRect">
            <a:avLst>
              <a:gd name="adj" fmla="val 11429"/>
            </a:avLst>
          </a:prstGeom>
          <a:solidFill>
            <a:srgbClr val="13131A"/>
          </a:solidFill>
          <a:ln/>
        </p:spPr>
      </p:sp>
      <p:sp>
        <p:nvSpPr>
          <p:cNvPr id="18" name="Shape 16"/>
          <p:cNvSpPr/>
          <p:nvPr/>
        </p:nvSpPr>
        <p:spPr>
          <a:xfrm>
            <a:off x="3611880" y="1234440"/>
            <a:ext cx="960120" cy="3200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130759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1234440"/>
            <a:ext cx="137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1234440"/>
            <a:ext cx="960120" cy="640080"/>
          </a:xfrm>
          <a:prstGeom prst="roundRect">
            <a:avLst>
              <a:gd name="adj" fmla="val 11429"/>
            </a:avLst>
          </a:prstGeom>
          <a:solidFill>
            <a:srgbClr val="13131A"/>
          </a:solidFill>
          <a:ln/>
        </p:spPr>
      </p:sp>
      <p:sp>
        <p:nvSpPr>
          <p:cNvPr id="22" name="Shape 20"/>
          <p:cNvSpPr/>
          <p:nvPr/>
        </p:nvSpPr>
        <p:spPr>
          <a:xfrm>
            <a:off x="4709160" y="1234440"/>
            <a:ext cx="960120" cy="3200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130759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0" y="1234440"/>
            <a:ext cx="137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06440" y="1234440"/>
            <a:ext cx="960120" cy="640080"/>
          </a:xfrm>
          <a:prstGeom prst="roundRect">
            <a:avLst>
              <a:gd name="adj" fmla="val 11429"/>
            </a:avLst>
          </a:prstGeom>
          <a:solidFill>
            <a:srgbClr val="13131A"/>
          </a:solidFill>
          <a:ln/>
        </p:spPr>
      </p:sp>
      <p:sp>
        <p:nvSpPr>
          <p:cNvPr id="26" name="Shape 24"/>
          <p:cNvSpPr/>
          <p:nvPr/>
        </p:nvSpPr>
        <p:spPr>
          <a:xfrm>
            <a:off x="5806440" y="1234440"/>
            <a:ext cx="960120" cy="3200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130759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66560" y="1234440"/>
            <a:ext cx="137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03720" y="1234440"/>
            <a:ext cx="960120" cy="640080"/>
          </a:xfrm>
          <a:prstGeom prst="roundRect">
            <a:avLst>
              <a:gd name="adj" fmla="val 11429"/>
            </a:avLst>
          </a:prstGeom>
          <a:solidFill>
            <a:srgbClr val="13131A"/>
          </a:solidFill>
          <a:ln/>
        </p:spPr>
      </p:sp>
      <p:sp>
        <p:nvSpPr>
          <p:cNvPr id="30" name="Shape 28"/>
          <p:cNvSpPr/>
          <p:nvPr/>
        </p:nvSpPr>
        <p:spPr>
          <a:xfrm>
            <a:off x="6903720" y="1234440"/>
            <a:ext cx="960120" cy="3200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130759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Fix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Review Engine (BYOK)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265176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1A1A24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2651760"/>
            <a:ext cx="36576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2697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29443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BYOK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08960" y="265176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1A1A24"/>
          </a:solidFill>
          <a:ln/>
        </p:spPr>
      </p:sp>
      <p:sp>
        <p:nvSpPr>
          <p:cNvPr id="38" name="Shape 36"/>
          <p:cNvSpPr/>
          <p:nvPr/>
        </p:nvSpPr>
        <p:spPr>
          <a:xfrm>
            <a:off x="3108960" y="2651760"/>
            <a:ext cx="36576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3291840" y="2697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91840" y="29443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· BYOK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0" y="265176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1A1A24"/>
          </a:solidFill>
          <a:ln/>
        </p:spPr>
      </p:sp>
      <p:sp>
        <p:nvSpPr>
          <p:cNvPr id="42" name="Shape 40"/>
          <p:cNvSpPr/>
          <p:nvPr/>
        </p:nvSpPr>
        <p:spPr>
          <a:xfrm>
            <a:off x="5669280" y="2651760"/>
            <a:ext cx="36576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5852160" y="2697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852160" y="29443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BYOK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33832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3131A"/>
          </a:solidFill>
          <a:ln/>
        </p:spPr>
      </p:sp>
      <p:sp>
        <p:nvSpPr>
          <p:cNvPr id="46" name="Shape 44"/>
          <p:cNvSpPr/>
          <p:nvPr/>
        </p:nvSpPr>
        <p:spPr>
          <a:xfrm>
            <a:off x="548640" y="3383280"/>
            <a:ext cx="36576" cy="7315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3456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Intelligence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" y="3703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 models agree on 3 critical risks"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findings · Disputed findings · Confidence score · Recommended action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46320" y="338328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13131A"/>
          </a:solidFill>
          <a:ln/>
        </p:spPr>
      </p:sp>
      <p:sp>
        <p:nvSpPr>
          <p:cNvPr id="50" name="Shape 48"/>
          <p:cNvSpPr/>
          <p:nvPr/>
        </p:nvSpPr>
        <p:spPr>
          <a:xfrm>
            <a:off x="4846320" y="3383280"/>
            <a:ext cx="36576" cy="7315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1" name="Text 49"/>
          <p:cNvSpPr/>
          <p:nvPr/>
        </p:nvSpPr>
        <p:spPr>
          <a:xfrm>
            <a:off x="5074920" y="34564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Fixed Version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74920" y="3703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auto-generates patched code from consensus findings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72 → 89 after applying fixes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8640" y="4343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4663440"/>
            <a:ext cx="1965960" cy="365760"/>
          </a:xfrm>
          <a:prstGeom prst="roundRect">
            <a:avLst>
              <a:gd name="adj" fmla="val 15000"/>
            </a:avLst>
          </a:prstGeom>
          <a:solidFill>
            <a:srgbClr val="13131A"/>
          </a:solidFill>
          <a:ln/>
        </p:spPr>
      </p:sp>
      <p:sp>
        <p:nvSpPr>
          <p:cNvPr id="55" name="Text 53"/>
          <p:cNvSpPr/>
          <p:nvPr/>
        </p:nvSpPr>
        <p:spPr>
          <a:xfrm>
            <a:off x="685800" y="46817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600200" y="46817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+ TypeScript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697480" y="4663440"/>
            <a:ext cx="1965960" cy="365760"/>
          </a:xfrm>
          <a:prstGeom prst="roundRect">
            <a:avLst>
              <a:gd name="adj" fmla="val 15000"/>
            </a:avLst>
          </a:prstGeom>
          <a:solidFill>
            <a:srgbClr val="13131A"/>
          </a:solidFill>
          <a:ln/>
        </p:spPr>
      </p:sp>
      <p:sp>
        <p:nvSpPr>
          <p:cNvPr id="58" name="Text 56"/>
          <p:cNvSpPr/>
          <p:nvPr/>
        </p:nvSpPr>
        <p:spPr>
          <a:xfrm>
            <a:off x="2834640" y="46817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SDK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749040" y="46817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@github/copilot-sdk v0.2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48640" y="5120640"/>
            <a:ext cx="1965960" cy="365760"/>
          </a:xfrm>
          <a:prstGeom prst="roundRect">
            <a:avLst>
              <a:gd name="adj" fmla="val 15000"/>
            </a:avLst>
          </a:prstGeom>
          <a:solidFill>
            <a:srgbClr val="13131A"/>
          </a:solidFill>
          <a:ln/>
        </p:spPr>
      </p:sp>
      <p:sp>
        <p:nvSpPr>
          <p:cNvPr id="61" name="Text 59"/>
          <p:cNvSpPr/>
          <p:nvPr/>
        </p:nvSpPr>
        <p:spPr>
          <a:xfrm>
            <a:off x="685800" y="51389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600200" y="51389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697480" y="5120640"/>
            <a:ext cx="1965960" cy="365760"/>
          </a:xfrm>
          <a:prstGeom prst="roundRect">
            <a:avLst>
              <a:gd name="adj" fmla="val 15000"/>
            </a:avLst>
          </a:prstGeom>
          <a:solidFill>
            <a:srgbClr val="13131A"/>
          </a:solidFill>
          <a:ln/>
        </p:spPr>
      </p:sp>
      <p:sp>
        <p:nvSpPr>
          <p:cNvPr id="64" name="Text 62"/>
          <p:cNvSpPr/>
          <p:nvPr/>
        </p:nvSpPr>
        <p:spPr>
          <a:xfrm>
            <a:off x="2834640" y="51389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749040" y="51389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· Claude · Gemini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github.com/sooko-ai/sooko-devos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029200" y="5074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generates. Sooko decides.</a:t>
            </a:r>
            <a:endParaRPr lang="en-US" sz="10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code. Tomorrow: every AI-powered decision.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Sooko DevOS — Copilot generates. Sooko decides.</dc:title>
  <dc:subject>PptxGenJS Presentation</dc:subject>
  <dc:creator>Sooko AI</dc:creator>
  <cp:lastModifiedBy>Sooko AI</cp:lastModifiedBy>
  <cp:revision>1</cp:revision>
  <dcterms:created xsi:type="dcterms:W3CDTF">2026-04-23T18:19:01Z</dcterms:created>
  <dcterms:modified xsi:type="dcterms:W3CDTF">2026-04-23T18:19:01Z</dcterms:modified>
</cp:coreProperties>
</file>